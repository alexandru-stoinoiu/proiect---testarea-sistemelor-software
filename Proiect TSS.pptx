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312" autoAdjust="0"/>
  </p:normalViewPr>
  <p:slideViewPr>
    <p:cSldViewPr snapToGrid="0" snapToObjects="1">
      <p:cViewPr varScale="1">
        <p:scale>
          <a:sx n="87" d="100"/>
          <a:sy n="87" d="100"/>
        </p:scale>
        <p:origin x="14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35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71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5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62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3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7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4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9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4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8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66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20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666015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o-RO" sz="2600" b="1" dirty="0" smtClean="0">
                <a:solidFill>
                  <a:srgbClr val="0F314E"/>
                </a:solidFill>
                <a:latin typeface="Calibri"/>
              </a:rPr>
              <a:t>Testing a Blockchain Application Using Hardhat</a:t>
            </a:r>
            <a:endParaRPr lang="ro-RO" sz="2600" b="1" dirty="0">
              <a:solidFill>
                <a:srgbClr val="0F31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T8 - Testarea unei retele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7428" y="1360003"/>
            <a:ext cx="7191103" cy="11592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C2C2C"/>
                </a:solidFill>
                <a:latin typeface="Calibri"/>
              </a:defRPr>
            </a:pPr>
            <a:r>
              <a:rPr lang="ro-RO" sz="2000" dirty="0" smtClean="0"/>
              <a:t>Focusul proiectului: </a:t>
            </a:r>
            <a:r>
              <a:rPr lang="en-US" sz="2000" dirty="0" smtClean="0"/>
              <a:t>	</a:t>
            </a:r>
            <a:r>
              <a:rPr lang="ro-RO" sz="2000" dirty="0" smtClean="0"/>
              <a:t>testare, nu aplicatia in sine</a:t>
            </a:r>
          </a:p>
          <a:p>
            <a:pPr>
              <a:spcAft>
                <a:spcPts val="600"/>
              </a:spcAft>
              <a:defRPr sz="2200">
                <a:solidFill>
                  <a:srgbClr val="2C2C2C"/>
                </a:solidFill>
                <a:latin typeface="Calibri"/>
              </a:defRPr>
            </a:pPr>
            <a:r>
              <a:rPr lang="ro-RO" sz="2000" dirty="0" smtClean="0"/>
              <a:t>Stack: </a:t>
            </a:r>
            <a:r>
              <a:rPr lang="en-US" sz="2000" dirty="0" smtClean="0"/>
              <a:t>	</a:t>
            </a:r>
            <a:r>
              <a:rPr lang="en-US" sz="2000" dirty="0"/>
              <a:t>	</a:t>
            </a:r>
            <a:r>
              <a:rPr lang="en-US" sz="2000" dirty="0" smtClean="0"/>
              <a:t>		</a:t>
            </a:r>
            <a:r>
              <a:rPr lang="ro-RO" sz="2000" dirty="0" smtClean="0"/>
              <a:t>Hardhat, Mocha, Chai, ethers, TypeScript</a:t>
            </a:r>
          </a:p>
          <a:p>
            <a:pPr>
              <a:spcAft>
                <a:spcPts val="600"/>
              </a:spcAft>
              <a:defRPr sz="2200">
                <a:solidFill>
                  <a:srgbClr val="2C2C2C"/>
                </a:solidFill>
                <a:latin typeface="Calibri"/>
              </a:defRPr>
            </a:pPr>
            <a:r>
              <a:rPr lang="ro-RO" sz="2000" dirty="0" smtClean="0"/>
              <a:t>Directii urmarite: </a:t>
            </a:r>
            <a:r>
              <a:rPr lang="en-US" sz="2000" dirty="0" smtClean="0"/>
              <a:t>		</a:t>
            </a:r>
            <a:r>
              <a:rPr lang="ro-RO" sz="2000" dirty="0" smtClean="0"/>
              <a:t>unit, integration, security, performance</a:t>
            </a:r>
            <a:endParaRPr lang="ro-RO" sz="2000" dirty="0"/>
          </a:p>
        </p:txBody>
      </p:sp>
      <p:pic>
        <p:nvPicPr>
          <p:cNvPr id="6" name="Picture 5" descr="subscription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72" y="2519295"/>
            <a:ext cx="7450336" cy="37697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De ce proiectul este relevant pentru Testarea Sistemelor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47088"/>
            <a:ext cx="3474720" cy="123444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F314E"/>
                </a:solidFill>
                <a:latin typeface="Calibri"/>
              </a:rPr>
              <a:t>Application under test</a:t>
            </a:r>
          </a:p>
          <a:p>
            <a:r>
              <a:rPr lang="ro-RO" sz="1200" dirty="0" smtClean="0">
                <a:solidFill>
                  <a:srgbClr val="2C2C2C"/>
                </a:solidFill>
                <a:latin typeface="Calibri"/>
              </a:rPr>
              <a:t>Subscription system cu 3 contracte: Subscription, Treasury, MockOracle</a:t>
            </a:r>
            <a:endParaRPr lang="ro-RO" sz="120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97680" y="1847088"/>
            <a:ext cx="3474720" cy="123444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 smtClean="0">
                <a:solidFill>
                  <a:srgbClr val="0F314E"/>
                </a:solidFill>
                <a:latin typeface="Calibri"/>
              </a:rPr>
              <a:t>Obiectiv</a:t>
            </a:r>
            <a:r>
              <a:rPr lang="en-US" sz="1600" b="1" dirty="0" smtClean="0">
                <a:solidFill>
                  <a:srgbClr val="0F314E"/>
                </a:solidFill>
                <a:latin typeface="Calibri"/>
              </a:rPr>
              <a:t> Principal</a:t>
            </a:r>
            <a:endParaRPr lang="ro-RO" sz="1600" b="1" dirty="0" smtClean="0">
              <a:solidFill>
                <a:srgbClr val="0F314E"/>
              </a:solidFill>
              <a:latin typeface="Calibri"/>
            </a:endParaRPr>
          </a:p>
          <a:p>
            <a:pPr algn="ctr"/>
            <a:r>
              <a:rPr lang="ro-RO" sz="1200" dirty="0" smtClean="0">
                <a:solidFill>
                  <a:srgbClr val="2C2C2C"/>
                </a:solidFill>
                <a:latin typeface="Calibri"/>
              </a:rPr>
              <a:t>Sa validam comportamentul contractelor si interactiunea lor pe o retea Hardhat locala</a:t>
            </a:r>
            <a:endParaRPr lang="ro-RO" sz="120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01000" y="1847088"/>
            <a:ext cx="3474720" cy="123444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600" b="1" dirty="0" smtClean="0">
                <a:solidFill>
                  <a:srgbClr val="0F314E"/>
                </a:solidFill>
                <a:latin typeface="Calibri"/>
              </a:rPr>
              <a:t>Why testing matters here</a:t>
            </a:r>
          </a:p>
          <a:p>
            <a:pPr algn="ctr"/>
            <a:r>
              <a:rPr lang="ro-RO" sz="1200" dirty="0" smtClean="0">
                <a:solidFill>
                  <a:srgbClr val="2C2C2C"/>
                </a:solidFill>
                <a:latin typeface="Calibri"/>
              </a:rPr>
              <a:t>Aplicatiile blockchain manipuleaza fonduri si stare permanenta; o eroare logica este costisitoare</a:t>
            </a:r>
            <a:endParaRPr lang="ro-RO" sz="120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4177938"/>
            <a:ext cx="10789920" cy="10823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dirty="0" smtClean="0"/>
              <a:t>Nu am urmarit doar functii izolate, ci fluxurile esentiale ale sistemului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dirty="0" smtClean="0"/>
              <a:t>Exemple: deposit, subscribe, renew, transfer catre Treasury, validari de roluri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dirty="0" smtClean="0"/>
              <a:t>Abordarea a fost ghidata de cerinta T8: unit + integration + security + performance</a:t>
            </a:r>
            <a:endParaRPr lang="ro-RO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Why Hardhat and This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Alegerea tool-urilor de testare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669280" cy="2698175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Hardhat: retea blockchain locala, scripting, debugging si testare automata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Mocha + Chai: descriere clara a scenariilor si asertiilor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ethers: interactiune directa cu contractele si conturile din retea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TypeScript: teste mai lizibile si mai usor de organizat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Comparativ cu Foundry / Truffle, Hardhat s-a potrivit cel mai bine cu stilul proiectului</a:t>
            </a:r>
            <a:endParaRPr lang="ro-RO" noProof="1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554480"/>
          <a:ext cx="4389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v22.17.0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Hardhat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^2.22.3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Solidity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0.8.26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Mocha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^11.7.5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Chai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^4.3.10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ethers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^6.16.0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Test Suite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Cum este organizata suita principala de teste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focus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test/Subscription.ts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subscription logic, state transitions, pause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test/TreasuryAndOracle.ts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permissions, treasury flow, oracle restrictions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test/Performance.ts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gas consumption and comparative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657600"/>
            <a:ext cx="2560320" cy="137160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314E"/>
                </a:solidFill>
                <a:latin typeface="Calibri"/>
              </a:rPr>
              <a:t>Functional testing</a:t>
            </a:r>
          </a:p>
          <a:p>
            <a:r>
              <a:rPr sz="1200">
                <a:solidFill>
                  <a:srgbClr val="2C2C2C"/>
                </a:solidFill>
                <a:latin typeface="Calibri"/>
              </a:rPr>
              <a:t>Validarea comportamentului: deposit, subscribe, renew, inputuri valide si invalide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3657600"/>
            <a:ext cx="2560320" cy="137160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314E"/>
                </a:solidFill>
                <a:latin typeface="Calibri"/>
              </a:rPr>
              <a:t>Integration testing</a:t>
            </a:r>
          </a:p>
          <a:p>
            <a:r>
              <a:rPr sz="1200">
                <a:solidFill>
                  <a:srgbClr val="2C2C2C"/>
                </a:solidFill>
                <a:latin typeface="Calibri"/>
              </a:rPr>
              <a:t>Flux complet intre Subscription si Treasury, inclusiv trimiterea fondurilor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3657600"/>
            <a:ext cx="2560320" cy="137160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314E"/>
                </a:solidFill>
                <a:latin typeface="Calibri"/>
              </a:rPr>
              <a:t>Security testing</a:t>
            </a:r>
          </a:p>
          <a:p>
            <a:r>
              <a:rPr sz="1200">
                <a:solidFill>
                  <a:srgbClr val="2C2C2C"/>
                </a:solidFill>
                <a:latin typeface="Calibri"/>
              </a:rPr>
              <a:t>Restrictii de roluri, invalid input, paused state, revenue restrictions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657600"/>
            <a:ext cx="2560320" cy="137160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314E"/>
                </a:solidFill>
                <a:latin typeface="Calibri"/>
              </a:rPr>
              <a:t>Performance testing</a:t>
            </a:r>
          </a:p>
          <a:p>
            <a:r>
              <a:rPr sz="1200">
                <a:solidFill>
                  <a:srgbClr val="2C2C2C"/>
                </a:solidFill>
                <a:latin typeface="Calibri"/>
              </a:rPr>
              <a:t>Masurarea costului de gas pentru operatiile importante ale sistemului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102412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807A"/>
                </a:solidFill>
                <a:latin typeface="Calibri"/>
              </a:defRPr>
            </a:pPr>
            <a:r>
              <a:t>Total in suita principala: 16 teste, toate trecute cu succes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69280"/>
            <a:ext cx="10607040" cy="502920"/>
          </a:xfrm>
          <a:prstGeom prst="roundRect">
            <a:avLst/>
          </a:prstGeom>
          <a:solidFill>
            <a:srgbClr val="F1F7F9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2C2C2C"/>
                </a:solidFill>
                <a:latin typeface="Calibri"/>
              </a:rPr>
              <a:t>Key implementation techniques: loadFixture, time.increase, revertedWithCustomError, to.emit(...).withArgs(...)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Functional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Equivalence classes + boundary value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332911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Am grupat comportamentele in clase de echivalenta pentru: deposit amount, payment source, renewal state si caller permissions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Am tratat explicit frontierele importante: 0 ETH, exact subscription price, insuficient funds, 0 periods, expirare vs. neexpirare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Testele verifica atat cazuri valide, cat si revert-uri cu custom errors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Exemple reprezentative: deposit(0), subscribe with insufficient funds, renewal before expiry, unauthorized admin call</a:t>
            </a:r>
            <a:endParaRPr lang="ro-RO" noProof="1"/>
          </a:p>
        </p:txBody>
      </p:sp>
      <p:pic>
        <p:nvPicPr>
          <p:cNvPr id="6" name="Picture 5" descr="u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37" y="5102352"/>
            <a:ext cx="9871933" cy="6746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2011680"/>
            <a:ext cx="4572000" cy="2011680"/>
          </a:xfrm>
          <a:prstGeom prst="roundRect">
            <a:avLst/>
          </a:prstGeom>
          <a:solidFill>
            <a:srgbClr val="F1F7F9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1500" dirty="0" smtClean="0">
                <a:solidFill>
                  <a:srgbClr val="2C2C2C"/>
                </a:solidFill>
                <a:latin typeface="Calibri"/>
              </a:rPr>
              <a:t>Representative functional cases from README:</a:t>
            </a:r>
          </a:p>
          <a:p>
            <a:r>
              <a:rPr lang="ro-RO" sz="1500" dirty="0" smtClean="0">
                <a:solidFill>
                  <a:srgbClr val="2C2C2C"/>
                </a:solidFill>
                <a:latin typeface="Calibri"/>
              </a:rPr>
              <a:t>C1 deposit with 0 ETH -&gt; AmountZero</a:t>
            </a:r>
          </a:p>
          <a:p>
            <a:r>
              <a:rPr lang="ro-RO" sz="1500" dirty="0" smtClean="0">
                <a:solidFill>
                  <a:srgbClr val="2C2C2C"/>
                </a:solidFill>
                <a:latin typeface="Calibri"/>
              </a:rPr>
              <a:t>C6 prepaid balance + wallet combined correctly</a:t>
            </a:r>
          </a:p>
          <a:p>
            <a:r>
              <a:rPr lang="ro-RO" sz="1500" dirty="0" smtClean="0">
                <a:solidFill>
                  <a:srgbClr val="2C2C2C"/>
                </a:solidFill>
                <a:latin typeface="Calibri"/>
              </a:rPr>
              <a:t>C10 renewal after expiry without funds -&gt; not processed</a:t>
            </a:r>
            <a:endParaRPr lang="ro-RO" sz="1500" dirty="0">
              <a:solidFill>
                <a:srgbClr val="2C2C2C"/>
              </a:solidFill>
              <a:latin typeface="Calibri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Integration and Security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Validam nu doar functii, ci si colaborarea si protectia sistemului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2498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Integration: subscribe actualizeaza starea si trimite veniturile catre Treasury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Security: doar owner/admin/subscription au acces la operatiile sensibile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Se verifica zero-value operations, unauthorized calls si paused state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Scopul: contractele sa fie corecte si rezistente la utilizare gresita</a:t>
            </a:r>
            <a:endParaRPr lang="ro-RO" noProof="1"/>
          </a:p>
        </p:txBody>
      </p:sp>
      <p:pic>
        <p:nvPicPr>
          <p:cNvPr id="6" name="Picture 5" descr="integ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4846"/>
            <a:ext cx="10457854" cy="978843"/>
          </a:xfrm>
          <a:prstGeom prst="rect">
            <a:avLst/>
          </a:prstGeom>
        </p:spPr>
      </p:pic>
      <p:pic>
        <p:nvPicPr>
          <p:cNvPr id="7" name="Picture 6" descr="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4039906"/>
            <a:ext cx="10458211" cy="7176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417320"/>
            <a:ext cx="4937760" cy="1691640"/>
          </a:xfrm>
          <a:prstGeom prst="roundRect">
            <a:avLst/>
          </a:prstGeom>
          <a:solidFill>
            <a:srgbClr val="E8F4F3"/>
          </a:solidFill>
          <a:ln>
            <a:solidFill>
              <a:srgbClr val="19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2C2C2C"/>
                </a:solidFill>
                <a:latin typeface="Calibri"/>
              </a:rPr>
              <a:t>Example security assertion:</a:t>
            </a:r>
          </a:p>
          <a:p>
            <a:r>
              <a:rPr sz="1500">
                <a:solidFill>
                  <a:srgbClr val="2C2C2C"/>
                </a:solidFill>
                <a:latin typeface="Calibri"/>
              </a:rPr>
              <a:t>unauthorized Treasury depositRevenue call -&gt; revertedWithCustomError(NotSubscription)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Performance Testing Through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In blockchain, costul executiei este o parte a calitatii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17320"/>
          <a:ext cx="45720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Gas used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deposit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47360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subscribeFromWallet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98429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subscribeFromBalance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61429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processRenewal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28875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withdraw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38075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treasury.adminDeposit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22858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treasury.withdraw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33571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1508760"/>
            <a:ext cx="5303520" cy="1645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t>subscribeFromWallet este cel mai scump flux testat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t>renewal este mai ieftin decat o prima abonare din wallet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t>comparatia exact payment vs leftover credit sustine designul functional</a:t>
            </a:r>
          </a:p>
        </p:txBody>
      </p:sp>
      <p:pic>
        <p:nvPicPr>
          <p:cNvPr id="7" name="Picture 6" descr="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90310"/>
            <a:ext cx="10526486" cy="622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Coverage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Ce parte din logica contractelor este exercitata de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206240" cy="2011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dirty="0"/>
              <a:t>Statement coverage: 83.87% (78 / 93)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dirty="0"/>
              <a:t>Branch coverage: 61.82% (68 / 110)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dirty="0"/>
              <a:t>Function coverage: 70.97% (22 / 31)</a:t>
            </a:r>
          </a:p>
          <a:p>
            <a:pPr>
              <a:spcAft>
                <a:spcPts val="600"/>
              </a:spcAft>
              <a:defRPr sz="1900">
                <a:solidFill>
                  <a:srgbClr val="2C2C2C"/>
                </a:solidFill>
                <a:latin typeface="Calibri"/>
              </a:defRPr>
            </a:pPr>
            <a:r>
              <a:rPr dirty="0"/>
              <a:t>Line coverage: 85.04% (108 / 127)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61919"/>
              </p:ext>
            </p:extLst>
          </p:nvPr>
        </p:nvGraphicFramePr>
        <p:xfrm>
          <a:off x="5486400" y="1417320"/>
          <a:ext cx="5486400" cy="148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Statements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Branches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Functions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Lines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MockOracle.sol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83.33%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Subscriptions.sol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80.82%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56.58%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81.82%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Treasury.sol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93.33%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71.43%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latin typeface="Calibri"/>
                        </a:rPr>
                        <a:t>94.74%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Cover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90" y="3393294"/>
            <a:ext cx="10106909" cy="950106"/>
          </a:xfrm>
          <a:prstGeom prst="rect">
            <a:avLst/>
          </a:prstGeom>
        </p:spPr>
      </p:pic>
      <p:pic>
        <p:nvPicPr>
          <p:cNvPr id="8" name="Picture 7" descr="Cover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90" y="4572000"/>
            <a:ext cx="10198349" cy="1325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314E"/>
                </a:solidFill>
                <a:latin typeface="Calibri"/>
              </a:rPr>
              <a:t>AI-Assisted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AI ca instrument complementar, nu ca inlocuitor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Experiment 1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Experiment 2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 suite</a:t>
                      </a:r>
                    </a:p>
                  </a:txBody>
                  <a:tcPr>
                    <a:solidFill>
                      <a:srgbClr val="0F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ChatGPT ideas + Codex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Codex with repository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Manual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Tests passing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6/6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12/12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16/16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basic missing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broader missing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core project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starting point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more reusable extension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baseline reference</a:t>
                      </a:r>
                    </a:p>
                  </a:txBody>
                  <a:tcPr>
                    <a:solidFill>
                      <a:srgbClr val="F1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023360"/>
            <a:ext cx="10332720" cy="1554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t>Experiment 1 a fost util pentru idei si verificari simple, dar a ramas mai restrans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t>Experiment 2 a fost clar mai bun dupa ce AI-ul a primit contextul real din repository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Calibri"/>
              </a:defRPr>
            </a:pPr>
            <a:r>
              <a:t>Concluzia: contextul imbunatateste semnificativ calitatea testelor generate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19" y="566928"/>
            <a:ext cx="2013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3200" b="1" noProof="1" smtClean="0">
                <a:solidFill>
                  <a:srgbClr val="0F314E"/>
                </a:solidFill>
                <a:latin typeface="Calibri"/>
              </a:rPr>
              <a:t>Concluzii</a:t>
            </a:r>
            <a:endParaRPr lang="ro-RO" sz="2400" b="1" noProof="1">
              <a:solidFill>
                <a:srgbClr val="0F31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368"/>
                </a:solidFill>
                <a:latin typeface="Calibri"/>
              </a:rPr>
              <a:t>Ce demonstram prin acest proiect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090954" cy="299056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Am construit o suita de teste axata pe cerinta T8: unit, integration, security, performance</a:t>
            </a:r>
          </a:p>
          <a:p>
            <a:pPr>
              <a:spcAft>
                <a:spcPts val="600"/>
              </a:spcAft>
              <a:defRPr sz="22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Am validat atat logica locala a contractelor, cat si fluxurile dintre ele</a:t>
            </a:r>
          </a:p>
          <a:p>
            <a:pPr>
              <a:spcAft>
                <a:spcPts val="600"/>
              </a:spcAft>
              <a:defRPr sz="22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Am masurat costul de gas si am analizat coverage-ul, nu doar rezultatul pass/fail</a:t>
            </a:r>
          </a:p>
          <a:p>
            <a:pPr>
              <a:spcAft>
                <a:spcPts val="600"/>
              </a:spcAft>
              <a:defRPr sz="2200">
                <a:solidFill>
                  <a:srgbClr val="2C2C2C"/>
                </a:solidFill>
                <a:latin typeface="Calibri"/>
              </a:defRPr>
            </a:pPr>
            <a:r>
              <a:rPr lang="ro-RO" noProof="1" smtClean="0"/>
              <a:t>AI-ul a fost util ca extensie, dar suita scrisa de echipa ramane referinta principala</a:t>
            </a:r>
            <a:endParaRPr lang="ro-RO" noProof="1"/>
          </a:p>
        </p:txBody>
      </p:sp>
      <p:sp>
        <p:nvSpPr>
          <p:cNvPr id="6" name="TextBox 5"/>
          <p:cNvSpPr txBox="1"/>
          <p:nvPr/>
        </p:nvSpPr>
        <p:spPr>
          <a:xfrm>
            <a:off x="5046595" y="4800600"/>
            <a:ext cx="18854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800" b="1" dirty="0" err="1" smtClean="0">
                <a:solidFill>
                  <a:srgbClr val="19807A"/>
                </a:solidFill>
                <a:latin typeface="Calibri"/>
              </a:rPr>
              <a:t>Multumim</a:t>
            </a:r>
            <a:r>
              <a:rPr lang="en-US" sz="2800" b="1" dirty="0" smtClean="0">
                <a:solidFill>
                  <a:srgbClr val="19807A"/>
                </a:solidFill>
                <a:latin typeface="Calibri"/>
              </a:rPr>
              <a:t>!</a:t>
            </a:r>
            <a:endParaRPr sz="2800" b="1" dirty="0">
              <a:solidFill>
                <a:srgbClr val="19807A"/>
              </a:solidFill>
              <a:latin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388" y="566927"/>
            <a:ext cx="3953692" cy="44840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</TotalTime>
  <Words>2877</Words>
  <Application>Microsoft Office PowerPoint</Application>
  <PresentationFormat>Widescreen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PC</cp:lastModifiedBy>
  <cp:revision>6</cp:revision>
  <dcterms:created xsi:type="dcterms:W3CDTF">2013-01-27T09:14:16Z</dcterms:created>
  <dcterms:modified xsi:type="dcterms:W3CDTF">2026-05-19T20:35:48Z</dcterms:modified>
  <cp:category/>
</cp:coreProperties>
</file>